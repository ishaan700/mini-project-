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70" r:id="rId11"/>
    <p:sldId id="271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8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an babu" userId="c767a9b85b07ebbf" providerId="LiveId" clId="{486E5A0F-37A5-48E9-B02C-0E4A5F938D86}"/>
    <pc:docChg chg="custSel modSld">
      <pc:chgData name="ishaan babu" userId="c767a9b85b07ebbf" providerId="LiveId" clId="{486E5A0F-37A5-48E9-B02C-0E4A5F938D86}" dt="2026-09-21T14:44:41.803" v="16" actId="478"/>
      <pc:docMkLst>
        <pc:docMk/>
      </pc:docMkLst>
      <pc:sldChg chg="delSp modSp mod">
        <pc:chgData name="ishaan babu" userId="c767a9b85b07ebbf" providerId="LiveId" clId="{486E5A0F-37A5-48E9-B02C-0E4A5F938D86}" dt="2026-09-21T13:28:02.127" v="14" actId="478"/>
        <pc:sldMkLst>
          <pc:docMk/>
          <pc:sldMk cId="0" sldId="256"/>
        </pc:sldMkLst>
        <pc:spChg chg="del">
          <ac:chgData name="ishaan babu" userId="c767a9b85b07ebbf" providerId="LiveId" clId="{486E5A0F-37A5-48E9-B02C-0E4A5F938D86}" dt="2026-09-21T02:22:24.182" v="5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ishaan babu" userId="c767a9b85b07ebbf" providerId="LiveId" clId="{486E5A0F-37A5-48E9-B02C-0E4A5F938D86}" dt="2026-09-21T02:22:23.611" v="4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ishaan babu" userId="c767a9b85b07ebbf" providerId="LiveId" clId="{486E5A0F-37A5-48E9-B02C-0E4A5F938D86}" dt="2026-09-21T02:22:22.778" v="3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ishaan babu" userId="c767a9b85b07ebbf" providerId="LiveId" clId="{486E5A0F-37A5-48E9-B02C-0E4A5F938D86}" dt="2026-09-21T02:22:20.370" v="2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ishaan babu" userId="c767a9b85b07ebbf" providerId="LiveId" clId="{486E5A0F-37A5-48E9-B02C-0E4A5F938D86}" dt="2026-09-21T02:22:19.278" v="1" actId="478"/>
          <ac:spMkLst>
            <pc:docMk/>
            <pc:sldMk cId="0" sldId="256"/>
            <ac:spMk id="13" creationId="{00000000-0000-0000-0000-000000000000}"/>
          </ac:spMkLst>
        </pc:spChg>
        <pc:spChg chg="del">
          <ac:chgData name="ishaan babu" userId="c767a9b85b07ebbf" providerId="LiveId" clId="{486E5A0F-37A5-48E9-B02C-0E4A5F938D86}" dt="2026-09-21T02:22:18.688" v="0" actId="478"/>
          <ac:spMkLst>
            <pc:docMk/>
            <pc:sldMk cId="0" sldId="256"/>
            <ac:spMk id="14" creationId="{00000000-0000-0000-0000-000000000000}"/>
          </ac:spMkLst>
        </pc:spChg>
        <pc:spChg chg="del">
          <ac:chgData name="ishaan babu" userId="c767a9b85b07ebbf" providerId="LiveId" clId="{486E5A0F-37A5-48E9-B02C-0E4A5F938D86}" dt="2026-09-21T13:27:55.766" v="12" actId="478"/>
          <ac:spMkLst>
            <pc:docMk/>
            <pc:sldMk cId="0" sldId="256"/>
            <ac:spMk id="15" creationId="{00000000-0000-0000-0000-000000000000}"/>
          </ac:spMkLst>
        </pc:spChg>
        <pc:spChg chg="del mod">
          <ac:chgData name="ishaan babu" userId="c767a9b85b07ebbf" providerId="LiveId" clId="{486E5A0F-37A5-48E9-B02C-0E4A5F938D86}" dt="2026-09-21T13:28:02.127" v="14" actId="478"/>
          <ac:spMkLst>
            <pc:docMk/>
            <pc:sldMk cId="0" sldId="256"/>
            <ac:spMk id="16" creationId="{00000000-0000-0000-0000-000000000000}"/>
          </ac:spMkLst>
        </pc:spChg>
      </pc:sldChg>
      <pc:sldChg chg="modSp mod">
        <pc:chgData name="ishaan babu" userId="c767a9b85b07ebbf" providerId="LiveId" clId="{486E5A0F-37A5-48E9-B02C-0E4A5F938D86}" dt="2026-09-21T02:22:46.787" v="7" actId="20577"/>
        <pc:sldMkLst>
          <pc:docMk/>
          <pc:sldMk cId="0" sldId="257"/>
        </pc:sldMkLst>
        <pc:spChg chg="mod">
          <ac:chgData name="ishaan babu" userId="c767a9b85b07ebbf" providerId="LiveId" clId="{486E5A0F-37A5-48E9-B02C-0E4A5F938D86}" dt="2026-09-21T02:22:46.787" v="7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ishaan babu" userId="c767a9b85b07ebbf" providerId="LiveId" clId="{486E5A0F-37A5-48E9-B02C-0E4A5F938D86}" dt="2026-09-21T02:22:33.862" v="6" actId="20577"/>
        <pc:sldMkLst>
          <pc:docMk/>
          <pc:sldMk cId="0" sldId="258"/>
        </pc:sldMkLst>
        <pc:spChg chg="mod">
          <ac:chgData name="ishaan babu" userId="c767a9b85b07ebbf" providerId="LiveId" clId="{486E5A0F-37A5-48E9-B02C-0E4A5F938D86}" dt="2026-09-21T02:22:33.862" v="6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ishaan babu" userId="c767a9b85b07ebbf" providerId="LiveId" clId="{486E5A0F-37A5-48E9-B02C-0E4A5F938D86}" dt="2026-09-21T02:22:49.733" v="8" actId="20577"/>
        <pc:sldMkLst>
          <pc:docMk/>
          <pc:sldMk cId="0" sldId="259"/>
        </pc:sldMkLst>
        <pc:spChg chg="mod">
          <ac:chgData name="ishaan babu" userId="c767a9b85b07ebbf" providerId="LiveId" clId="{486E5A0F-37A5-48E9-B02C-0E4A5F938D86}" dt="2026-09-21T02:22:49.733" v="8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ishaan babu" userId="c767a9b85b07ebbf" providerId="LiveId" clId="{486E5A0F-37A5-48E9-B02C-0E4A5F938D86}" dt="2026-09-21T02:22:51.637" v="9" actId="20577"/>
        <pc:sldMkLst>
          <pc:docMk/>
          <pc:sldMk cId="0" sldId="260"/>
        </pc:sldMkLst>
        <pc:spChg chg="mod">
          <ac:chgData name="ishaan babu" userId="c767a9b85b07ebbf" providerId="LiveId" clId="{486E5A0F-37A5-48E9-B02C-0E4A5F938D86}" dt="2026-09-21T02:22:51.637" v="9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ishaan babu" userId="c767a9b85b07ebbf" providerId="LiveId" clId="{486E5A0F-37A5-48E9-B02C-0E4A5F938D86}" dt="2026-09-21T02:22:53.758" v="10" actId="20577"/>
        <pc:sldMkLst>
          <pc:docMk/>
          <pc:sldMk cId="0" sldId="261"/>
        </pc:sldMkLst>
        <pc:spChg chg="mod">
          <ac:chgData name="ishaan babu" userId="c767a9b85b07ebbf" providerId="LiveId" clId="{486E5A0F-37A5-48E9-B02C-0E4A5F938D86}" dt="2026-09-21T02:22:53.758" v="10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ishaan babu" userId="c767a9b85b07ebbf" providerId="LiveId" clId="{486E5A0F-37A5-48E9-B02C-0E4A5F938D86}" dt="2026-09-21T02:22:55.512" v="11" actId="20577"/>
        <pc:sldMkLst>
          <pc:docMk/>
          <pc:sldMk cId="0" sldId="262"/>
        </pc:sldMkLst>
        <pc:spChg chg="mod">
          <ac:chgData name="ishaan babu" userId="c767a9b85b07ebbf" providerId="LiveId" clId="{486E5A0F-37A5-48E9-B02C-0E4A5F938D86}" dt="2026-09-21T02:22:55.512" v="11" actId="20577"/>
          <ac:spMkLst>
            <pc:docMk/>
            <pc:sldMk cId="0" sldId="262"/>
            <ac:spMk id="3" creationId="{00000000-0000-0000-0000-000000000000}"/>
          </ac:spMkLst>
        </pc:spChg>
      </pc:sldChg>
      <pc:sldChg chg="delSp mod">
        <pc:chgData name="ishaan babu" userId="c767a9b85b07ebbf" providerId="LiveId" clId="{486E5A0F-37A5-48E9-B02C-0E4A5F938D86}" dt="2026-09-21T14:44:41.803" v="16" actId="478"/>
        <pc:sldMkLst>
          <pc:docMk/>
          <pc:sldMk cId="0" sldId="267"/>
        </pc:sldMkLst>
        <pc:spChg chg="del">
          <ac:chgData name="ishaan babu" userId="c767a9b85b07ebbf" providerId="LiveId" clId="{486E5A0F-37A5-48E9-B02C-0E4A5F938D86}" dt="2026-09-21T14:44:41.803" v="16" actId="478"/>
          <ac:spMkLst>
            <pc:docMk/>
            <pc:sldMk cId="0" sldId="267"/>
            <ac:spMk id="29" creationId="{00000000-0000-0000-0000-000000000000}"/>
          </ac:spMkLst>
        </pc:spChg>
        <pc:spChg chg="del">
          <ac:chgData name="ishaan babu" userId="c767a9b85b07ebbf" providerId="LiveId" clId="{486E5A0F-37A5-48E9-B02C-0E4A5F938D86}" dt="2026-09-21T14:44:41.054" v="15" actId="478"/>
          <ac:spMkLst>
            <pc:docMk/>
            <pc:sldMk cId="0" sldId="267"/>
            <ac:spMk id="3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4107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A884F-6CDB-FDCD-9EF7-764B58448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B24B7F-1A07-F941-46C6-19542573E5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7AB701-E34F-5882-0201-3CC4279C8F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151C8-25C7-6E7A-C795-1452CF6ADD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0720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A36E0-F1F2-948C-4B15-4B8EFD227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322BCD-01CC-B296-D201-0E177917FD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8673C7-0791-0288-F13E-ED64D78784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8420C-563D-9D69-4FE5-E0FF5858C0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6784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8FA0D-EF6C-A29D-0DB2-6EC228B60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708B46-FAD5-D43D-CCAD-FE61DA68A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E77F7-BD08-E736-1020-DCBF19691B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98032F-EB97-EB0F-D69B-24B1672ADB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3856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286000"/>
            <a:ext cx="6035040" cy="6035040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11480" y="6263640"/>
            <a:ext cx="914400" cy="914400"/>
          </a:xfrm>
          <a:prstGeom prst="ellipse">
            <a:avLst/>
          </a:prstGeom>
          <a:solidFill>
            <a:srgbClr val="2DE1C2"/>
          </a:solidFill>
          <a:ln w="12700">
            <a:solidFill>
              <a:srgbClr val="2DE1C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2DE1C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CUSTOMER CHURN ANALYTICS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EDEF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 BI Dashboard Design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7BC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model • Fields • DAX measures • Chart mapping • Page layout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201168" cy="201168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" y="4434840"/>
            <a:ext cx="201168" cy="201168"/>
          </a:xfrm>
          <a:prstGeom prst="ellipse">
            <a:avLst/>
          </a:prstGeom>
          <a:solidFill>
            <a:srgbClr val="2DE1C2"/>
          </a:solidFill>
          <a:ln w="12700">
            <a:solidFill>
              <a:srgbClr val="2DE1C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75488" cy="475488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DEF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Objective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8046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BC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dashboard exists and what it needs to answer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384048" cy="384048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4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46304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DEF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Overview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81051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7BC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the headline at a glance — customers, churn rate, tenure and revenue — and how churn splits by contract and churn status.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688336"/>
            <a:ext cx="384048" cy="384048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4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67004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DEF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Demographics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01752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7BC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churn across gender, senior citizen status, partners and dependents to see which customer groups leave most.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895344"/>
            <a:ext cx="384048" cy="384048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4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87705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DEF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Services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224528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7BC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which internet and streaming services customers use, how churn differs across them, and how many have tech support.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5102352"/>
            <a:ext cx="384048" cy="384048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" y="5102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4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5084064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DEF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Financial impact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5431536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7BC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Quantify the revenue lost to churn, compare payment methods and contracts, and surface the highest-value churned accounts.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80960" y="1463040"/>
            <a:ext cx="4050792" cy="4800600"/>
          </a:xfrm>
          <a:prstGeom prst="roundRect">
            <a:avLst>
              <a:gd name="adj" fmla="val 2257"/>
            </a:avLst>
          </a:prstGeom>
          <a:solidFill>
            <a:srgbClr val="181B26"/>
          </a:solidFill>
          <a:ln w="12700">
            <a:solidFill>
              <a:srgbClr val="24283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0100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8D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DASHBOARD SNAPSHOT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001000" y="219456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2DE1C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4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8001000" y="2761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7BC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pages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001000" y="321868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2DE1C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23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8001000" y="37856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7BC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 visuals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001000" y="424281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2DE1C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11</a:t>
            </a:r>
            <a:endParaRPr lang="en-US" sz="3400" dirty="0"/>
          </a:p>
        </p:txBody>
      </p:sp>
      <p:sp>
        <p:nvSpPr>
          <p:cNvPr id="29" name="Text 27"/>
          <p:cNvSpPr txBox="1"/>
          <p:nvPr/>
        </p:nvSpPr>
        <p:spPr>
          <a:xfrm>
            <a:off x="8001000" y="48097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7BC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DAX measures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001000" y="526694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2DE1C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</a:t>
            </a:r>
            <a:endParaRPr lang="en-US" sz="3400" dirty="0"/>
          </a:p>
        </p:txBody>
      </p:sp>
      <p:sp>
        <p:nvSpPr>
          <p:cNvPr id="31" name="Text 29"/>
          <p:cNvSpPr txBox="1"/>
          <p:nvPr/>
        </p:nvSpPr>
        <p:spPr>
          <a:xfrm>
            <a:off x="8001000" y="5833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7BC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tables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8A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 Analytics — Dashboard Design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75488" cy="475488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DEF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From Raw Data to Dashboard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8046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BC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build sequence this deck follows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423160" cy="3017520"/>
          </a:xfrm>
          <a:prstGeom prst="roundRect">
            <a:avLst>
              <a:gd name="adj" fmla="val 3774"/>
            </a:avLst>
          </a:prstGeom>
          <a:solidFill>
            <a:srgbClr val="181B26"/>
          </a:solidFill>
          <a:ln w="12700">
            <a:solidFill>
              <a:srgbClr val="2428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1031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2DE1C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108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DEF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Tables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5661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7BC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 and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B7BC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 (Unpivoted)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3017520"/>
            <a:ext cx="5276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7C8A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407969" y="1737360"/>
            <a:ext cx="2423160" cy="3017520"/>
          </a:xfrm>
          <a:prstGeom prst="roundRect">
            <a:avLst>
              <a:gd name="adj" fmla="val 3774"/>
            </a:avLst>
          </a:prstGeom>
          <a:solidFill>
            <a:srgbClr val="181B26"/>
          </a:solidFill>
          <a:ln w="12700">
            <a:solidFill>
              <a:srgbClr val="2428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07969" y="21031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2DE1C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15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3407969" y="3108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DEF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Fields Used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45129" y="35661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7BC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from Customers plus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B7BC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Type — slicers,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B7BC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axes, legends, table columns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831129" y="3017520"/>
            <a:ext cx="5276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7C8A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358738" y="1737360"/>
            <a:ext cx="2423160" cy="3017520"/>
          </a:xfrm>
          <a:prstGeom prst="roundRect">
            <a:avLst>
              <a:gd name="adj" fmla="val 3774"/>
            </a:avLst>
          </a:prstGeom>
          <a:solidFill>
            <a:srgbClr val="181B26"/>
          </a:solidFill>
          <a:ln w="12700">
            <a:solidFill>
              <a:srgbClr val="24283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8738" y="21031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2DE1C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11</a:t>
            </a:r>
            <a:endParaRPr lang="en-US" sz="5400" dirty="0"/>
          </a:p>
        </p:txBody>
      </p:sp>
      <p:sp>
        <p:nvSpPr>
          <p:cNvPr id="18" name="Text 16"/>
          <p:cNvSpPr txBox="1"/>
          <p:nvPr/>
        </p:nvSpPr>
        <p:spPr>
          <a:xfrm>
            <a:off x="6358738" y="3108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DEF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DAX Measures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95898" y="35661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7BC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on Customers and 1 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B7BC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 (Unpivoted):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B7BC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churn, revenue, service KPIs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781898" y="3017520"/>
            <a:ext cx="5276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7C8A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309506" y="1737360"/>
            <a:ext cx="2423160" cy="3017520"/>
          </a:xfrm>
          <a:prstGeom prst="roundRect">
            <a:avLst>
              <a:gd name="adj" fmla="val 3774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09506" y="21031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12141C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4</a:t>
            </a:r>
            <a:endParaRPr lang="en-US" sz="5400" dirty="0"/>
          </a:p>
        </p:txBody>
      </p:sp>
      <p:sp>
        <p:nvSpPr>
          <p:cNvPr id="23" name="Text 21"/>
          <p:cNvSpPr txBox="1"/>
          <p:nvPr/>
        </p:nvSpPr>
        <p:spPr>
          <a:xfrm>
            <a:off x="9309506" y="3108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214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Dashboard Pages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446666" y="35661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214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Overview, Demographics,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214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Services, Financial Impact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5120640"/>
            <a:ext cx="11274552" cy="685800"/>
          </a:xfrm>
          <a:prstGeom prst="roundRect">
            <a:avLst>
              <a:gd name="adj" fmla="val 10667"/>
            </a:avLst>
          </a:prstGeom>
          <a:solidFill>
            <a:srgbClr val="181B26"/>
          </a:solidFill>
          <a:ln w="12700">
            <a:solidFill>
              <a:srgbClr val="24283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120640"/>
            <a:ext cx="10835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BC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page is a 1280 × 720 fit-to-page canvas with three dropdown slicers (Contract, Internet Service, Senior Citizen) and a page navigator.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8A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 Analytics — Dashboard Design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75488" cy="475488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DEF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Fields Used in the Dashboard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8046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BC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Columns that drive the slicers, axes, legends and tables — 14 from Customers, 1 from Services (Unpivoted)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532120" cy="4608572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DEF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Field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4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DEF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How the dashboard uses it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4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1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Contract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Slicer on every page; axis of Churn Rate and Revenue Lost to Churn by Contract; table column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1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InternetService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Slicer on every page; axis of Churn Rate by Internet Service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1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Senior Citizen Label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Slicer on every page; matrix row under gender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1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Churn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 / No slices of the Customers by Churn Status donut; filter on the top-20 table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1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gender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Axis of Churn Rate by Gender; matrix row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61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Partner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Axis of Churn Rate by Partner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61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Dependents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Axis of Churn Rate by Dependents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417320"/>
          <a:ext cx="5532120" cy="460857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DEF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Field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4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DEF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How the dashboard uses it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4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StreamingTV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Pie slices of Churn Rate by Streaming TV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StreamingMovies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Pie slices of Churn Rate by Streaming Movies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PaymentMethod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Axis of Churn Rate by Payment Method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CustomerID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Table column; selects the top-20 churned customers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tenure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Top-20 table column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MonthlyCharges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Top-20 table column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TotalCharges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Table column; ranks the top 20 churned customers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 Type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7C8AA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Services (Unpivoted)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List slicer (visible on Services, hidden elsewhere); axis of Service Adoption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8A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 Analytics — Dashboard Design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75488" cy="475488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DEF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DAX Measures — Customers &amp; Churn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8046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BC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the customers are, who left, and how long they stay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3675888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0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2141C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Measure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2141C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Table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2141C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Used in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2141C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Role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 Customers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Overview KPI card and donut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Base customer count for every split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Churn Rate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Overview KPI card; every “Churn Rate by …” chart; Demographics matrix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Headline churn KPI (colour-coded)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Senior Citizen Churn Rate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Demographics KPI card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Churn rate of senior customers (colour-coded)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Non-Senior Churn Rate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Demographics KPI card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Churn rate of non-senior customers (colour-coded)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Avg Tenure (Months)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Overview KPI card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Typical customer lifetime, in months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8A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 Analytics — Dashboard Design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75488" cy="475488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DEF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DAX Measures — Revenue &amp; Services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8046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BC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churn costs, and how widely services are used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3895344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0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2141C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Measure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2141C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Table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2141C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Used in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2141C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Role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 Revenue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Overview KPI card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Headline revenue figure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Recurring Revenue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Financial Impact KPI card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Recurring monthly revenue base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Revenue Lost to Churn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Financial Impact KPI card (red); Revenue Lost to Churn by Contract waterfall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Revenue lost from customers who churned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 Revenue Lost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Financial Impact KPI card (red)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Lost revenue as a share of the total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 Customers with Tech Support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Services KPI card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 of customers with tech support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Customers with Service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Services (Unpivoted)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Services — Service Adoption bar chart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Customers subscribed to each service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4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8A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 Analytics — Dashboard Design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75488" cy="475488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DEF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Chart Usage Mapping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8046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BC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visual carries which measure, and why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532120" cy="448056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DEF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Insight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4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DEF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Chart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4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DEF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Why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4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 headline numbers, e.g. Total Customers, Churn Rate, Total Revenue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E1C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KPI cards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Single numbers read fastest at a glance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Customers by Churn Status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E1C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Donut chart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Clean part-to-whole split with only two slices (Yes / No)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Churn Rate by Contract, Internet Service, Partner, Dependents, Payment Method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E1C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Clustered bar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Same measure on every chart, so categories compare like for like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Churn Rate by Gender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E1C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Clustered column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Two categories side by side on a common baseline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Churn Rate by Streaming TV and Streaming Movies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E1C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Pie chart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Compact view of how churn differs across a service’s few options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417320"/>
          <a:ext cx="5532120" cy="448056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DEF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Insight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4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DEF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Chart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4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DEFF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Why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4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Churn Rate: Gender × Senior Citizen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E1C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Matrix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measure across two dimensions in a compact grid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 Adoption (Customers with Service)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E1C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Clustered bar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Puts every service on one common axis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Revenue Lost to Churn by Contract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E1C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Waterfall chart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Builds up how each contract adds to the total revenue lost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 20 Churned Customers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E1C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Table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Row-level detail filtered to Churn = Yes and ranked by TotalCharges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F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Contract, Internet Service, Senior Citizen, Service Type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E1C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Slicers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7BCC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Dropdowns on every page; the Service Type list shows on Services only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4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8A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 Analytics — Dashboard Design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81B26"/>
          </a:solidFill>
          <a:ln w="12700">
            <a:solidFill>
              <a:srgbClr val="181B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DE1C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PAGE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9184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DEF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Overview</a:t>
            </a:r>
            <a:endParaRPr lang="en-US" sz="2400" dirty="0"/>
          </a:p>
        </p:txBody>
      </p:sp>
      <p:sp>
        <p:nvSpPr>
          <p:cNvPr id="40" name="Text 32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8A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 Analytics — Dashboard Layout</a:t>
            </a:r>
            <a:endParaRPr lang="en-US" sz="1000" dirty="0"/>
          </a:p>
        </p:txBody>
      </p:sp>
      <p:sp>
        <p:nvSpPr>
          <p:cNvPr id="90" name="Caption"/>
          <p:cNvSpPr txBox="1"/>
          <p:nvPr/>
        </p:nvSpPr>
        <p:spPr>
          <a:xfrm>
            <a:off x="6766560" y="27432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Layout render from the .pbix — schematic, no data values</a:t>
            </a:r>
            <a:endParaRPr lang="en-US" sz="1000" dirty="0"/>
          </a:p>
        </p:txBody>
      </p:sp>
      <p:sp>
        <p:nvSpPr>
          <p:cNvPr id="41" name="Text 3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D69871-3419-B180-BE3A-8598DD14E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170" y="774738"/>
            <a:ext cx="8859659" cy="53085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5755D8-87CA-FB8C-4B00-089E0A7C9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5C3B713-6811-4E05-3A35-68CF55059D98}"/>
              </a:ext>
            </a:extLst>
          </p:cNvPr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81B26"/>
          </a:solidFill>
          <a:ln w="12700">
            <a:solidFill>
              <a:srgbClr val="181B26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A652600-DB5A-81FC-0DA3-03A74D614B84}"/>
              </a:ext>
            </a:extLst>
          </p:cNvPr>
          <p:cNvSpPr txBox="1"/>
          <p:nvPr/>
        </p:nvSpPr>
        <p:spPr>
          <a:xfrm>
            <a:off x="457200" y="109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DE1C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PAGE 2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54F3D29-19BB-8873-F8C8-707C1329C818}"/>
              </a:ext>
            </a:extLst>
          </p:cNvPr>
          <p:cNvSpPr txBox="1"/>
          <p:nvPr/>
        </p:nvSpPr>
        <p:spPr>
          <a:xfrm>
            <a:off x="457200" y="329184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EDEF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Demographics</a:t>
            </a:r>
            <a:endParaRPr lang="en-US" sz="2400" dirty="0"/>
          </a:p>
        </p:txBody>
      </p:sp>
      <p:sp>
        <p:nvSpPr>
          <p:cNvPr id="40" name="Text 32">
            <a:extLst>
              <a:ext uri="{FF2B5EF4-FFF2-40B4-BE49-F238E27FC236}">
                <a16:creationId xmlns:a16="http://schemas.microsoft.com/office/drawing/2014/main" id="{F6944680-174D-AFC4-FBA8-A388E313A166}"/>
              </a:ext>
            </a:extLst>
          </p:cNvPr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8A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 Analytics — Dashboard Layout</a:t>
            </a:r>
            <a:endParaRPr lang="en-US" sz="1000" dirty="0"/>
          </a:p>
        </p:txBody>
      </p:sp>
      <p:sp>
        <p:nvSpPr>
          <p:cNvPr id="90" name="Caption">
            <a:extLst>
              <a:ext uri="{FF2B5EF4-FFF2-40B4-BE49-F238E27FC236}">
                <a16:creationId xmlns:a16="http://schemas.microsoft.com/office/drawing/2014/main" id="{0CE751EE-2721-EDB6-5B75-1A9439DF6498}"/>
              </a:ext>
            </a:extLst>
          </p:cNvPr>
          <p:cNvSpPr txBox="1"/>
          <p:nvPr/>
        </p:nvSpPr>
        <p:spPr>
          <a:xfrm>
            <a:off x="6766560" y="27432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Layout render from the .pbix — schematic, no data values</a:t>
            </a:r>
            <a:endParaRPr lang="en-US" sz="1000" dirty="0"/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0CE751EE-2721-EDB6-5B75-1A9439DF6498}"/>
              </a:ext>
            </a:extLst>
          </p:cNvPr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670766-A3A0-A932-1CBD-B45075937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402" y="1042416"/>
            <a:ext cx="8633196" cy="483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884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F78E28-157B-1040-1DB6-64BDC3EE0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3A7929A-E412-6562-A5F1-ECDA827CA908}"/>
              </a:ext>
            </a:extLst>
          </p:cNvPr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81B26"/>
          </a:solidFill>
          <a:ln w="12700">
            <a:solidFill>
              <a:srgbClr val="181B26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4D7F7C4-5C4B-1270-0E2E-2756DA836A92}"/>
              </a:ext>
            </a:extLst>
          </p:cNvPr>
          <p:cNvSpPr txBox="1"/>
          <p:nvPr/>
        </p:nvSpPr>
        <p:spPr>
          <a:xfrm>
            <a:off x="457200" y="109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DE1C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PAGE 3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D9CDADA-8ECE-83E8-4626-C42F968DBA02}"/>
              </a:ext>
            </a:extLst>
          </p:cNvPr>
          <p:cNvSpPr txBox="1"/>
          <p:nvPr/>
        </p:nvSpPr>
        <p:spPr>
          <a:xfrm>
            <a:off x="457200" y="329184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EDEF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Services</a:t>
            </a:r>
            <a:endParaRPr lang="en-US" sz="2400" dirty="0"/>
          </a:p>
        </p:txBody>
      </p:sp>
      <p:sp>
        <p:nvSpPr>
          <p:cNvPr id="40" name="Text 32">
            <a:extLst>
              <a:ext uri="{FF2B5EF4-FFF2-40B4-BE49-F238E27FC236}">
                <a16:creationId xmlns:a16="http://schemas.microsoft.com/office/drawing/2014/main" id="{34897743-67C1-548F-82AB-F357CF9DB788}"/>
              </a:ext>
            </a:extLst>
          </p:cNvPr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8A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 Analytics — Dashboard Layout</a:t>
            </a:r>
            <a:endParaRPr lang="en-US" sz="1000" dirty="0"/>
          </a:p>
        </p:txBody>
      </p:sp>
      <p:sp>
        <p:nvSpPr>
          <p:cNvPr id="90" name="Caption">
            <a:extLst>
              <a:ext uri="{FF2B5EF4-FFF2-40B4-BE49-F238E27FC236}">
                <a16:creationId xmlns:a16="http://schemas.microsoft.com/office/drawing/2014/main" id="{B31EE261-6D64-EF80-729C-EC2D8AFE7521}"/>
              </a:ext>
            </a:extLst>
          </p:cNvPr>
          <p:cNvSpPr txBox="1"/>
          <p:nvPr/>
        </p:nvSpPr>
        <p:spPr>
          <a:xfrm>
            <a:off x="6766560" y="27432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Layout render from the .pbix — schematic, no data values</a:t>
            </a:r>
            <a:endParaRPr lang="en-US" sz="1000" dirty="0"/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B31EE261-6D64-EF80-729C-EC2D8AFE7521}"/>
              </a:ext>
            </a:extLst>
          </p:cNvPr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310215-2E9F-7CC6-5757-5403ADDE5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688" y="822960"/>
            <a:ext cx="9296318" cy="523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29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FD6547-8E07-A2AC-B81A-20D12F459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2D7CBDB-B396-3411-8D6E-72E80144C7F5}"/>
              </a:ext>
            </a:extLst>
          </p:cNvPr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81B26"/>
          </a:solidFill>
          <a:ln w="12700">
            <a:solidFill>
              <a:srgbClr val="181B26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BBEFC60-565B-5AB1-BDBD-022D1726CECE}"/>
              </a:ext>
            </a:extLst>
          </p:cNvPr>
          <p:cNvSpPr txBox="1"/>
          <p:nvPr/>
        </p:nvSpPr>
        <p:spPr>
          <a:xfrm>
            <a:off x="457200" y="109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DE1C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PAGE 4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CF78405-CDAD-21EE-05F5-6ED2E83F464D}"/>
              </a:ext>
            </a:extLst>
          </p:cNvPr>
          <p:cNvSpPr txBox="1"/>
          <p:nvPr/>
        </p:nvSpPr>
        <p:spPr>
          <a:xfrm>
            <a:off x="457200" y="329184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EDEF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Financial Impact</a:t>
            </a:r>
            <a:endParaRPr lang="en-US" sz="2400" dirty="0"/>
          </a:p>
        </p:txBody>
      </p:sp>
      <p:sp>
        <p:nvSpPr>
          <p:cNvPr id="40" name="Text 32">
            <a:extLst>
              <a:ext uri="{FF2B5EF4-FFF2-40B4-BE49-F238E27FC236}">
                <a16:creationId xmlns:a16="http://schemas.microsoft.com/office/drawing/2014/main" id="{E4C9070E-37FC-F809-F89C-E8C1BFD7D27D}"/>
              </a:ext>
            </a:extLst>
          </p:cNvPr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8A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 Analytics — Dashboard Layout</a:t>
            </a:r>
            <a:endParaRPr lang="en-US" sz="1000" dirty="0"/>
          </a:p>
        </p:txBody>
      </p:sp>
      <p:sp>
        <p:nvSpPr>
          <p:cNvPr id="90" name="Caption">
            <a:extLst>
              <a:ext uri="{FF2B5EF4-FFF2-40B4-BE49-F238E27FC236}">
                <a16:creationId xmlns:a16="http://schemas.microsoft.com/office/drawing/2014/main" id="{CA1A16B0-BDB6-6ADE-AA80-010B18ADAC9C}"/>
              </a:ext>
            </a:extLst>
          </p:cNvPr>
          <p:cNvSpPr txBox="1"/>
          <p:nvPr/>
        </p:nvSpPr>
        <p:spPr>
          <a:xfrm>
            <a:off x="6766560" y="27432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Layout render from the .pbix — schematic, no data values</a:t>
            </a:r>
            <a:endParaRPr lang="en-US" sz="1000" dirty="0"/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CA1A16B0-BDB6-6ADE-AA80-010B18ADAC9C}"/>
              </a:ext>
            </a:extLst>
          </p:cNvPr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9903FF-803B-7B13-1873-7EA0418A6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012" y="932688"/>
            <a:ext cx="8979670" cy="507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946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75488" cy="475488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DEF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Recommended Page Order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8046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BC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a viewer moves through the report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423160" cy="3246120"/>
          </a:xfrm>
          <a:prstGeom prst="roundRect">
            <a:avLst>
              <a:gd name="adj" fmla="val 3774"/>
            </a:avLst>
          </a:prstGeom>
          <a:solidFill>
            <a:srgbClr val="181B26"/>
          </a:solidFill>
          <a:ln w="12700">
            <a:solidFill>
              <a:srgbClr val="2428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40180" y="2011680"/>
            <a:ext cx="457200" cy="457200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401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14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6517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EDEF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Overview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15468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7BC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 here first — headline KPIs, the churn status split, and churn rate by contract.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880360" y="3086100"/>
            <a:ext cx="5276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7C8A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407969" y="1691640"/>
            <a:ext cx="2423160" cy="3246120"/>
          </a:xfrm>
          <a:prstGeom prst="roundRect">
            <a:avLst>
              <a:gd name="adj" fmla="val 3774"/>
            </a:avLst>
          </a:prstGeom>
          <a:solidFill>
            <a:srgbClr val="181B26"/>
          </a:solidFill>
          <a:ln w="12700">
            <a:solidFill>
              <a:srgbClr val="2428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90949" y="2011680"/>
            <a:ext cx="457200" cy="457200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90949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14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407969" y="26517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EDEF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Demographics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590849" y="315468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7BC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churns — gender, senior citizen, partner and dependents, plus the gender × senior matrix.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831129" y="3086100"/>
            <a:ext cx="5276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7C8A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358738" y="1691640"/>
            <a:ext cx="2423160" cy="3246120"/>
          </a:xfrm>
          <a:prstGeom prst="roundRect">
            <a:avLst>
              <a:gd name="adj" fmla="val 3774"/>
            </a:avLst>
          </a:prstGeom>
          <a:solidFill>
            <a:srgbClr val="181B26"/>
          </a:solidFill>
          <a:ln w="12700">
            <a:solidFill>
              <a:srgbClr val="2428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41718" y="2011680"/>
            <a:ext cx="457200" cy="457200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4171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14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358738" y="26517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EDEF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Services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541618" y="315468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7BC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they use — internet type, service adoption, streaming churn and tech support.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781898" y="3086100"/>
            <a:ext cx="5276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7C8A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309506" y="1691640"/>
            <a:ext cx="2423160" cy="3246120"/>
          </a:xfrm>
          <a:prstGeom prst="roundRect">
            <a:avLst>
              <a:gd name="adj" fmla="val 3774"/>
            </a:avLst>
          </a:prstGeom>
          <a:solidFill>
            <a:srgbClr val="181B26"/>
          </a:solidFill>
          <a:ln w="12700">
            <a:solidFill>
              <a:srgbClr val="2428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92486" y="2011680"/>
            <a:ext cx="457200" cy="457200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29248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14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309506" y="26517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EDEF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Financial Impact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492386" y="315468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7BC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 on the money — revenue lost by contract, recurring revenue, payment methods and the top 20 churned accounts.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8A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Churn Analytics — Dashboard Design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2377440"/>
            <a:ext cx="3291840" cy="3291840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8686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EDEF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Build Order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883664"/>
            <a:ext cx="411480" cy="411480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83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4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8288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Import </a:t>
            </a:r>
            <a:r>
              <a:rPr lang="en-IN" sz="1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customer_churn_dataset.csv</a:t>
            </a:r>
            <a:r>
              <a:rPr lang="en-IN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alongside Services (Unpivoted), and confirm data types: tenure/SeniorCitizen as whole numbers, Contract/</a:t>
            </a:r>
            <a:r>
              <a:rPr lang="en-IN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PaymentMethod</a:t>
            </a:r>
            <a:r>
              <a:rPr lang="en-IN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as text</a:t>
            </a:r>
            <a:endParaRPr lang="en-US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14400" y="2752344"/>
            <a:ext cx="411480" cy="411480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752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4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69748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Add the Senior Citizen Label calculated column next — it drives the slicer on every page and the gender × senior matrix</a:t>
            </a:r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.</a:t>
            </a:r>
            <a:endParaRPr lang="en-US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14400" y="3621024"/>
            <a:ext cx="411480" cy="411480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6210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4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5661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 the </a:t>
            </a:r>
            <a:r>
              <a:rPr lang="en-IN" sz="1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11</a:t>
            </a:r>
            <a:r>
              <a:rPr lang="en-IN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DAX measures, grouped as Customers &amp; Churn (slide 5) and Revenue &amp; Services (slide 6)</a:t>
            </a:r>
            <a:endParaRPr lang="en-US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14400" y="4489704"/>
            <a:ext cx="411480" cy="411480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489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4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4348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F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the four 1280 × 720 pages in the order on the previous slide, using the chart choices from the mapping table.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5358384"/>
            <a:ext cx="411480" cy="411480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5358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4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53035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F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the Contract, Internet Service and Senior Citizen dropdown slicers and a page navigator to every page; keep the Service Type slicer visible on Services and hidden elsewhere.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1268</Words>
  <Application>Microsoft Office PowerPoint</Application>
  <PresentationFormat>Widescreen</PresentationFormat>
  <Paragraphs>256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Segoe UI</vt:lpstr>
      <vt:lpstr>Segoe UI Light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Analytics — Power BI Dashboard Design</dc:title>
  <dc:subject>PptxGenJS Presentation</dc:subject>
  <dc:creator>Churn Dashboard</dc:creator>
  <cp:lastModifiedBy>ishaan babu</cp:lastModifiedBy>
  <cp:revision>3</cp:revision>
  <dcterms:created xsi:type="dcterms:W3CDTF">2026-09-20T15:39:18Z</dcterms:created>
  <dcterms:modified xsi:type="dcterms:W3CDTF">2026-09-21T14:44:44Z</dcterms:modified>
</cp:coreProperties>
</file>